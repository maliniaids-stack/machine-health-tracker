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ExtraBold"/>
      <p:bold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ExtraBold-bold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InterMedium-regular.fntdata"/><Relationship Id="rId27" Type="http://schemas.openxmlformats.org/officeDocument/2006/relationships/font" Target="fonts/Montserrat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9.png"/><Relationship Id="rId13" Type="http://schemas.openxmlformats.org/officeDocument/2006/relationships/image" Target="../media/image14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14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16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okwi.com/" TargetMode="External"/><Relationship Id="rId4" Type="http://schemas.openxmlformats.org/officeDocument/2006/relationships/hyperlink" Target="https://invensense.tdk.com/products/motion-tracking/6-axis/mpu-6050/" TargetMode="External"/><Relationship Id="rId9" Type="http://schemas.openxmlformats.org/officeDocument/2006/relationships/hyperlink" Target="https://www.iso.org/standard/2873.html" TargetMode="External"/><Relationship Id="rId5" Type="http://schemas.openxmlformats.org/officeDocument/2006/relationships/hyperlink" Target="https://nodejs.org/" TargetMode="External"/><Relationship Id="rId6" Type="http://schemas.openxmlformats.org/officeDocument/2006/relationships/hyperlink" Target="https://expressjs.com/" TargetMode="External"/><Relationship Id="rId7" Type="http://schemas.openxmlformats.org/officeDocument/2006/relationships/hyperlink" Target="https://expressjs.com/" TargetMode="External"/><Relationship Id="rId8" Type="http://schemas.openxmlformats.org/officeDocument/2006/relationships/hyperlink" Target="https://www.chartj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381650"/>
            <a:ext cx="52008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IoT-Driven Machine Monitoring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963912"/>
            <a:ext cx="4953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Predictive Maintenance for Small Production Units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952500" y="4042023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Modernizing small production units effectively.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52500" y="4605783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Moving from reactive to predictive maintenance.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52500" y="5504705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Real-time visibility into machine health and status.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6107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62483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52375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8115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Cost of Unplanned Downtime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129540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1926431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Small factories often rely on inefficient "run-to-failure" models.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2825353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Manual inspections are expensive, infrequent, and highly prone to human error.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52500" y="3724275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Unexpected motor or CNC breakdowns cause severe production bottlenecks.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462319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single failure halts the entire assembly line, resulting in massive financial loss.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81150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4548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4440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433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42246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2583656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3281" y="1581150"/>
            <a:ext cx="2583656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1581150"/>
            <a:ext cx="2583656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36843" y="1581150"/>
            <a:ext cx="2583656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Real-Time Predictive Maintenance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129540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1876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19150" y="2638425"/>
            <a:ext cx="142017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19150" y="3105150"/>
            <a:ext cx="2088356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ESP32 Microcontroller retrofitted non-invasively onto existing machinery.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40931" y="1876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3640931" y="2638425"/>
            <a:ext cx="11201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Sensors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640931" y="3105150"/>
            <a:ext cx="2088356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Continuous 3-axis vibration and precise temperature tracking capabilities.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62712" y="1876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462712" y="2638425"/>
            <a:ext cx="214026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Edge Compute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462712" y="3105150"/>
            <a:ext cx="2088356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On-device signal smoothing and anomaly filtering to reduce noise.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84493" y="18764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9284493" y="2638425"/>
            <a:ext cx="15801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Dashboard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284493" y="3105150"/>
            <a:ext cx="2088356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Cloud or local network dashboard providing instant alerts and analysis.</a:t>
            </a:r>
            <a:endParaRPr/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2500" y="20097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31431" y="2009775"/>
            <a:ext cx="190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57962" y="200977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417843" y="2009775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5286375" cy="4662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81150"/>
            <a:ext cx="5286375" cy="4662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634382"/>
            <a:ext cx="4505325" cy="10425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Data Processing &amp; Algorithms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71500" y="129540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962025" y="197167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Signal Filtering &amp; Checks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724650" y="197167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Vibration Energy Metric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724650" y="2438400"/>
            <a:ext cx="45053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calculate the Root Mean Square (RMS) of 3-axis vibration to detect bearing wear and shaft imbalance: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724650" y="4867423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Industry-standard indicator of mechanical health.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343025" y="2486025"/>
            <a:ext cx="41243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Moving Average Filter: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5-point smoothing eliminates temporary noise (e.g., accidental bumps).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343025" y="3720107"/>
            <a:ext cx="41243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Plausibility Checks: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Hard-coded thresholds automatically discard physically impossible sensor readings.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343025" y="4954190"/>
            <a:ext cx="41243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Edge Processing: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Reduces server load by transmitting only clean telemetry.</a:t>
            </a:r>
            <a:endParaRPr/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62825" y="3929657"/>
            <a:ext cx="3228826" cy="451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2505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373915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497324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End-to-End Data Pipeline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71500" y="129540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71500" y="2133600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679459" y="2533650"/>
            <a:ext cx="34666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IoT Node (C++)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62000" y="2981325"/>
            <a:ext cx="3301603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Sensors sample data, the ESP32 performs edge-cleaning, and transmits a JSON payload via HTTP POST over WiFi.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4362608" y="2560506"/>
            <a:ext cx="3466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Backend (Node.js)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4445148" y="3008181"/>
            <a:ext cx="33015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REST API receives the request, strictly validates the payload structure, and stores records in an SQLite database.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045856" y="2533650"/>
            <a:ext cx="34666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284C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Frontend (HTML/JS)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128396" y="2981325"/>
            <a:ext cx="3301603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client polls the API, calculates KPI status logic, and beautifully renders real-time tracking charts.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2298501" y="20383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5981700" y="20383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9664898" y="20383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44650"/>
            <a:ext cx="11049000" cy="517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71500" y="335012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Live System Dashboard Trend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71500" y="1058912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571500" y="5913387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Operators receive immediate visual feedback. The system effectively identified a critical peak (red zone), allowing for maintenance scheduling before failure.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571500" y="762000"/>
            <a:ext cx="52006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Future Enhancements</a:t>
            </a:r>
            <a:endParaRPr/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/>
          <p:nvPr/>
        </p:nvSpPr>
        <p:spPr>
          <a:xfrm>
            <a:off x="571500" y="148590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952500" y="1771650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Successfully implemented robust, real-time edge monitoring.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952500" y="2670571"/>
            <a:ext cx="4572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 Integration: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Training a Machine Learning model on historical SQLite data for advanced pattern recognition.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952500" y="3904654"/>
            <a:ext cx="4572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Alert Systems: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Adding automated SMS and Email alerts for off-site operators and plant managers.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52500" y="5138737"/>
            <a:ext cx="4572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Scalability: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Deploying sensor nodes across the entire factory floor to create a centralized Smart Hub.</a:t>
            </a:r>
            <a:endParaRPr/>
          </a:p>
        </p:txBody>
      </p:sp>
      <p:pic>
        <p:nvPicPr>
          <p:cNvPr descr="image.png" id="197" name="Google Shape;19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907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8962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2370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5778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REFERENCE</a:t>
            </a:r>
            <a:r>
              <a:rPr b="1" lang="en-US" sz="3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AND USEFUL LINKS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71500" y="1430591"/>
            <a:ext cx="6639000" cy="17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 u="sng">
                <a:solidFill>
                  <a:schemeClr val="hlink"/>
                </a:solidFill>
                <a:hlinkClick r:id="rId3"/>
              </a:rPr>
              <a:t>Wokwi ESP32 Simulator</a:t>
            </a:r>
            <a:r>
              <a:rPr b="1" lang="en-US" sz="11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</a:rPr>
              <a:t> The free online tool used to simulate the hardware.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 u="sng">
                <a:solidFill>
                  <a:schemeClr val="hlink"/>
                </a:solidFill>
                <a:hlinkClick r:id="rId4"/>
              </a:rPr>
              <a:t>MPU-6050 Datasheet</a:t>
            </a:r>
            <a:r>
              <a:rPr b="1" lang="en-US" sz="11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</a:rPr>
              <a:t> Information about the 3-axis accelerometer used to detect vibrations.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 u="sng">
                <a:solidFill>
                  <a:schemeClr val="hlink"/>
                </a:solidFill>
                <a:hlinkClick r:id="rId5"/>
              </a:rPr>
              <a:t>Node.js</a:t>
            </a:r>
            <a:r>
              <a:rPr b="1" lang="en-US" sz="1100">
                <a:solidFill>
                  <a:schemeClr val="dk1"/>
                </a:solidFill>
              </a:rPr>
              <a:t> &amp;</a:t>
            </a:r>
            <a:r>
              <a:rPr b="1" lang="en-US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sz="1100" u="sng">
                <a:solidFill>
                  <a:schemeClr val="hlink"/>
                </a:solidFill>
                <a:hlinkClick r:id="rId7"/>
              </a:rPr>
              <a:t>Express.js</a:t>
            </a:r>
            <a:r>
              <a:rPr b="1" lang="en-US" sz="11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</a:rPr>
              <a:t> The software powering our backend server.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 u="sng">
                <a:solidFill>
                  <a:schemeClr val="hlink"/>
                </a:solidFill>
                <a:hlinkClick r:id="rId8"/>
              </a:rPr>
              <a:t>Chart.js</a:t>
            </a:r>
            <a:r>
              <a:rPr b="1" lang="en-US" sz="11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</a:rPr>
              <a:t> The library used to draw the beautiful live graphs on the dashboard.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 u="sng">
                <a:solidFill>
                  <a:schemeClr val="hlink"/>
                </a:solidFill>
                <a:hlinkClick r:id="rId9"/>
              </a:rPr>
              <a:t>ISO 10816 Standard</a:t>
            </a:r>
            <a:r>
              <a:rPr b="1" lang="en-US" sz="1100">
                <a:solidFill>
                  <a:schemeClr val="dk1"/>
                </a:solidFill>
              </a:rPr>
              <a:t>:</a:t>
            </a:r>
            <a:r>
              <a:rPr lang="en-US" sz="1100">
                <a:solidFill>
                  <a:schemeClr val="dk1"/>
                </a:solidFill>
              </a:rPr>
              <a:t> The industrial standard for evaluating machine vibration (why we use the "RMS" calculation).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